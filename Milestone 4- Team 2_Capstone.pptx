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sldIdLst>
    <p:sldId id="257" r:id="rId2"/>
    <p:sldId id="258" r:id="rId3"/>
    <p:sldId id="260" r:id="rId4"/>
    <p:sldId id="269" r:id="rId5"/>
    <p:sldId id="270" r:id="rId6"/>
    <p:sldId id="259" r:id="rId7"/>
    <p:sldId id="268" r:id="rId8"/>
    <p:sldId id="261" r:id="rId9"/>
    <p:sldId id="262" r:id="rId10"/>
    <p:sldId id="263" r:id="rId11"/>
    <p:sldId id="271" r:id="rId12"/>
    <p:sldId id="272" r:id="rId13"/>
    <p:sldId id="267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4FCFA-26C7-8240-A91A-EF02DF518897}" v="206" dt="2026-04-24T01:15:19.870"/>
    <p1510:client id="{62386C56-FB23-B541-9BC9-C312FC33179F}" v="7" dt="2026-04-24T01:43:12.479"/>
    <p1510:client id="{CE524452-C0E4-A043-B44B-1D8A9F9C3F1D}" v="399" dt="2026-04-25T00:28:38.4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4"/>
  </p:normalViewPr>
  <p:slideViewPr>
    <p:cSldViewPr snapToGrid="0">
      <p:cViewPr varScale="1">
        <p:scale>
          <a:sx n="104" d="100"/>
          <a:sy n="10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66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09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0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90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361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373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32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51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355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06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18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7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kokoAfantchao/Capstone-ProjectTeam3/blob/main/ActiveDirectoryScrip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E957-780C-019A-13D5-93210C67E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758" y="786423"/>
            <a:ext cx="4176511" cy="1049235"/>
          </a:xfrm>
        </p:spPr>
        <p:txBody>
          <a:bodyPr>
            <a:normAutofit/>
          </a:bodyPr>
          <a:lstStyle/>
          <a:p>
            <a:r>
              <a:rPr lang="en-US" sz="4000"/>
              <a:t>Milestone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E63D-3C30-1A24-330F-72980F341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Team 2:</a:t>
            </a:r>
            <a:br>
              <a:rPr lang="en-US"/>
            </a:br>
            <a:r>
              <a:rPr lang="en-US"/>
              <a:t>Shahiba Shamshad</a:t>
            </a:r>
            <a:br>
              <a:rPr lang="en-US"/>
            </a:br>
            <a:r>
              <a:rPr lang="en-US"/>
              <a:t>Michael Butler</a:t>
            </a:r>
            <a:br>
              <a:rPr lang="en-US"/>
            </a:br>
            <a:r>
              <a:rPr lang="en-US"/>
              <a:t>Mounia Touil</a:t>
            </a:r>
            <a:br>
              <a:rPr lang="en-US"/>
            </a:br>
            <a:r>
              <a:rPr lang="en-US"/>
              <a:t>Koko Afantchao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A72F2-BF98-AA74-D150-DEE7F948635F}"/>
              </a:ext>
            </a:extLst>
          </p:cNvPr>
          <p:cNvSpPr txBox="1"/>
          <p:nvPr/>
        </p:nvSpPr>
        <p:spPr>
          <a:xfrm>
            <a:off x="5733295" y="1123813"/>
            <a:ext cx="6341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Active Directory to Cloud Security Data Pipeline</a:t>
            </a:r>
          </a:p>
        </p:txBody>
      </p:sp>
    </p:spTree>
    <p:extLst>
      <p:ext uri="{BB962C8B-B14F-4D97-AF65-F5344CB8AC3E}">
        <p14:creationId xmlns:p14="http://schemas.microsoft.com/office/powerpoint/2010/main" val="2081887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AE08-02D7-D89F-850F-01E948D69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6BF96-D4F3-0450-174A-9465C0340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sz="18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Cybriant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Lucid to visualize identity relationships but Lucid has no native connection to on-premises Active Directory. We built an automated pipeline that pulls identity data from AD, stages it in Google </a:t>
            </a:r>
            <a:r>
              <a:rPr lang="en-US" sz="180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 sz="18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pushes it into Lucid through an API — so security analysts can see a live visual of their environment.</a:t>
            </a:r>
            <a:endParaRPr lang="en-US" sz="1800"/>
          </a:p>
          <a:p>
            <a:r>
              <a:rPr lang="en-US"/>
              <a:t>The Problem: 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integration between on-prem Active Directory and Lucid visualization platform</a:t>
            </a:r>
            <a:endParaRPr lang="en-US"/>
          </a:p>
          <a:p>
            <a:r>
              <a:rPr lang="en-US"/>
              <a:t>Our solution: 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pipeline: AD → PowerShell →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Cloud Run → Lucid API</a:t>
            </a:r>
            <a:endParaRPr lang="en-US"/>
          </a:p>
          <a:p>
            <a:r>
              <a:rPr lang="en-US"/>
              <a:t>The Goal: 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and reliability of data transfer at every stage of the pipeline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18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0F33-83CC-B5D7-00F0-81265DAB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B4D49B-22F6-1F38-FEAF-9A534D527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0479" y="1701466"/>
            <a:ext cx="9604375" cy="1727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977F8C-1355-5987-5879-8072AD29274C}"/>
              </a:ext>
            </a:extLst>
          </p:cNvPr>
          <p:cNvSpPr txBox="1"/>
          <p:nvPr/>
        </p:nvSpPr>
        <p:spPr>
          <a:xfrm>
            <a:off x="1450479" y="3608173"/>
            <a:ext cx="96043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</a:t>
            </a:r>
          </a:p>
          <a:p>
            <a:r>
              <a:rPr lang="en-US" b="1">
                <a:solidFill>
                  <a:srgbClr val="0D9488"/>
                </a:solidFill>
                <a:latin typeface="Calibri" pitchFamily="34" charset="0"/>
                <a:cs typeface="Calibri" pitchFamily="34" charset="-120"/>
              </a:rPr>
              <a:t>1- </a:t>
            </a:r>
            <a:r>
              <a:rPr lang="en-US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scripts connect to AD and export all objects as JSON files — read-only, no changes made to AD</a:t>
            </a:r>
          </a:p>
          <a:p>
            <a:r>
              <a:rPr lang="en-US" b="1">
                <a:solidFill>
                  <a:srgbClr val="0D9488"/>
                </a:solidFill>
                <a:latin typeface="Calibri" pitchFamily="34" charset="0"/>
                <a:cs typeface="Calibri" pitchFamily="34" charset="-120"/>
              </a:rPr>
              <a:t>2-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 files are uploaded to Google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pre-defined tables — computer, user,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dhcp_lease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dns_a_record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inspect_ou</a:t>
            </a:r>
            <a:endParaRPr lang="en-US" b="1">
              <a:solidFill>
                <a:srgbClr val="0D9488"/>
              </a:solidFill>
              <a:latin typeface="Calibri" pitchFamily="34" charset="0"/>
              <a:cs typeface="Calibri" pitchFamily="34" charset="-120"/>
            </a:endParaRPr>
          </a:p>
          <a:p>
            <a:endParaRPr lang="en-US" b="1">
              <a:solidFill>
                <a:srgbClr val="0D9488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b="1">
                <a:solidFill>
                  <a:srgbClr val="0D9488"/>
                </a:solidFill>
                <a:latin typeface="Calibri" pitchFamily="34" charset="0"/>
                <a:cs typeface="Calibri" pitchFamily="34" charset="-120"/>
              </a:rPr>
              <a:t>3-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Run service reads latest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snapshot, normalizes and joins the data, then pushes it to Lucid via REST 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6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9253-2B89-0567-61BB-E4048C00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1(Recap)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3E00-A7BD-4AFE-BA71-03E801E7E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Wrote the full Requirements Engineering Document with functional and non-functional requirements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Defined security assumptions — read-only AD access, least privilege IAM, no passwords in command line</a:t>
            </a:r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end-to-end architecture diagram — AD → PowerShell →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→ Cloud Run → Lucid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schema and data model for all AD objects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Planned the Cloud Run to Lucid API interaction and JSON payload structure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Defined logging and error handling strategy for every pipeline stage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private GitHub repository and shared it with the sponsor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54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83693-F52C-3E02-255D-323C53DA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2 (Recap)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4ACBF-34B9-9BB9-0F9E-5D0F7263A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scripts that connect to AD and extract users, groups, computers, DHCP, DNS and subnets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Scripts handle errors and partial failures gracefully — designed for future extensibility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Windows scheduled task runs every day at 6pm — fully automated, no manual trigger needed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Each run tagged with a unique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run_id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and timestamp for traceability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Data successfully loaded into 11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tables in the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capstone_dev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dataset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views created —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vw_rel_computer_ou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vw_rel_user_ou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vw_rel_dns_computer</a:t>
            </a:r>
            <a:endParaRPr lang="en-US"/>
          </a:p>
          <a:p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updated with latest code, documentation and architecture diagrams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7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28C9-19C2-88A7-6BB2-916589C5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Milestone 3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00188-55D1-EF7F-106D-C5D174A35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deployed a microservice to Google Cloud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RunPython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reads latest </a:t>
            </a:r>
            <a:r>
              <a:rPr lang="en-US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snapshot, normalizes data and pushes it to Lucid</a:t>
            </a:r>
          </a:p>
          <a:p>
            <a:pPr marL="457200" indent="-457200">
              <a:buFont typeface="+mj-lt"/>
              <a:buAutoNum type="arabicPeriod"/>
            </a:pP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CI/CD pipeline — GitHub Actions + Cloud Build — 17 successful deployments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diagrams generated showing identity, systems and network relationships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running and validated from AD all the way to Lucid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finalized with full documentation and README</a:t>
            </a:r>
            <a:endParaRPr lang="en-US"/>
          </a:p>
          <a:p>
            <a:pPr marL="457200" indent="-457200">
              <a:buFont typeface="+mj-lt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29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9636-AAF6-CAB7-26C2-22D52566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Overview (BIG ONE)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80BFCD0-9ACA-5954-E25D-96FA86D33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177311"/>
              </p:ext>
            </p:extLst>
          </p:nvPr>
        </p:nvGraphicFramePr>
        <p:xfrm>
          <a:off x="1294362" y="1645149"/>
          <a:ext cx="9603275" cy="4309718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603275">
                  <a:extLst>
                    <a:ext uri="{9D8B030D-6E8A-4147-A177-3AD203B41FA5}">
                      <a16:colId xmlns:a16="http://schemas.microsoft.com/office/drawing/2014/main" val="1953062502"/>
                    </a:ext>
                  </a:extLst>
                </a:gridCol>
              </a:tblGrid>
              <a:tr h="652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</a:rPr>
                        <a:t>What We Built: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061135"/>
                  </a:ext>
                </a:extLst>
              </a:tr>
              <a:tr h="307962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1">
                          <a:solidFill>
                            <a:srgbClr val="00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 Extraction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cripts connect to AD and pull all identity data — users, computers, groups, DHCP and DNS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1">
                          <a:solidFill>
                            <a:srgbClr val="00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 Storage: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 connect to AD and pull all identity data — users, computers, groups, DHCP and DNS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800" b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1">
                          <a:solidFill>
                            <a:srgbClr val="00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Run Service: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microservice reads BigQuery, transforms the data and pushes it to Lucid via REST API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800" b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800" b="1">
                          <a:solidFill>
                            <a:srgbClr val="00C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 Visualization:</a:t>
                      </a:r>
                      <a:r>
                        <a:rPr lang="en-US" sz="180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diagrams generated — identity, systems and network views of the AD environment</a:t>
                      </a:r>
                      <a:endParaRPr lang="en-US" sz="1800">
                        <a:solidFill>
                          <a:schemeClr val="tx1"/>
                        </a:solidFill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lang="en-US" sz="180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>
                        <a:solidFill>
                          <a:schemeClr val="tx1"/>
                        </a:solidFill>
                      </a:endParaRPr>
                    </a:p>
                    <a:p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33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78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79C2-F397-769C-7245-A16309AD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CI/CD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91FFC-87D7-A68C-2CC3-D547B6315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4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974E-53EA-0FA2-ED24-5E8E11DC3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Lucid API Integration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83C70-A015-72B8-1A86-9D83BE81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35554-A797-BB49-AA9E-655ACFA66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257" y="1853754"/>
            <a:ext cx="9429486" cy="408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88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4819-7114-92A6-0919-2150E7A8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036" y="354576"/>
            <a:ext cx="9603275" cy="1049235"/>
          </a:xfrm>
        </p:spPr>
        <p:txBody>
          <a:bodyPr/>
          <a:lstStyle/>
          <a:p>
            <a:r>
              <a:rPr lang="en-US"/>
              <a:t>Lucid Visualization</a:t>
            </a:r>
          </a:p>
        </p:txBody>
      </p:sp>
      <p:pic>
        <p:nvPicPr>
          <p:cNvPr id="16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57F898-4F58-7174-6DBD-70464A94D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899886"/>
            <a:ext cx="5805714" cy="4992913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C3A7D4-5C60-C847-ABD4-C539AD84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959" y="899886"/>
            <a:ext cx="6095999" cy="499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1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E2EA-D66D-9634-05C5-2A1426FA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750" y="151376"/>
            <a:ext cx="9603275" cy="1049235"/>
          </a:xfrm>
        </p:spPr>
        <p:txBody>
          <a:bodyPr/>
          <a:lstStyle/>
          <a:p>
            <a:r>
              <a:rPr lang="en-US"/>
              <a:t>LUCID VISUALIZATION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75092E-C9B8-B567-6D1A-832B12280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71" y="1451430"/>
            <a:ext cx="11785600" cy="460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42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7908-FFFD-D44C-74C4-2E72D859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63168"/>
            <a:ext cx="9603275" cy="1049235"/>
          </a:xfrm>
        </p:spPr>
        <p:txBody>
          <a:bodyPr/>
          <a:lstStyle/>
          <a:p>
            <a:r>
              <a:rPr lang="en-US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5F54E-988F-3D65-40D3-30B3DFE31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ED2855-E405-ED59-CC45-97015A93E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779"/>
            <a:ext cx="12192000" cy="494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5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3829-677E-073F-9A6E-AA1B8C9FD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945" y="334656"/>
            <a:ext cx="9603275" cy="1049235"/>
          </a:xfrm>
        </p:spPr>
        <p:txBody>
          <a:bodyPr/>
          <a:lstStyle/>
          <a:p>
            <a:r>
              <a:rPr lang="en-US"/>
              <a:t>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4D43D-BC2D-7683-D51B-EAD524B22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944" y="745072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hlinkClick r:id="rId2"/>
              </a:rPr>
              <a:t>https://github.com/kokoAfantchao/Capstone-ProjectTeam3/blob/main/ActiveDirectoryScript</a:t>
            </a:r>
            <a:endParaRPr lang="en-US" err="1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567B5D-3CC0-D7B9-A367-630F12E49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08" y="1258785"/>
            <a:ext cx="11412187" cy="473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52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552E-A82F-5C7C-2C17-B746CFCF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964698"/>
            <a:ext cx="9603275" cy="1049235"/>
          </a:xfrm>
        </p:spPr>
        <p:txBody>
          <a:bodyPr/>
          <a:lstStyle/>
          <a:p>
            <a:r>
              <a:rPr lang="en-US"/>
              <a:t>End to End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753-05EB-E825-1ED5-8B8B5221E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CFA02-3076-970A-0F7C-05FF02DD3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8" y="2015732"/>
            <a:ext cx="10304993" cy="397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69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8CA1-B2F6-CDB1-72DB-150A86C3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1160605"/>
            <a:ext cx="3688832" cy="462099"/>
          </a:xfrm>
        </p:spPr>
        <p:txBody>
          <a:bodyPr>
            <a:normAutofit fontScale="90000"/>
          </a:bodyPr>
          <a:lstStyle/>
          <a:p>
            <a:r>
              <a:rPr lang="en-US"/>
              <a:t>Challenges: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7CE9-C42E-C14A-89D2-F711083C9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1853754"/>
            <a:ext cx="3985394" cy="3612591"/>
          </a:xfrm>
        </p:spPr>
        <p:txBody>
          <a:bodyPr/>
          <a:lstStyle/>
          <a:p>
            <a:r>
              <a:rPr lang="en-US" b="1">
                <a:solidFill>
                  <a:srgbClr val="00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 Stack: 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None of us had worked with PowerShell, </a:t>
            </a:r>
            <a:r>
              <a:rPr lang="en-US" err="1"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, Cloud Run or Lucid API before — learned everything from scratch.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9860F-683E-EA0B-B7E0-AF4AEF6CD7E2}"/>
              </a:ext>
            </a:extLst>
          </p:cNvPr>
          <p:cNvSpPr txBox="1"/>
          <p:nvPr/>
        </p:nvSpPr>
        <p:spPr>
          <a:xfrm>
            <a:off x="6755027" y="1099484"/>
            <a:ext cx="3985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+mj-lt"/>
              </a:rPr>
              <a:t>LESSONS LEARNED:</a:t>
            </a:r>
          </a:p>
        </p:txBody>
      </p:sp>
    </p:spTree>
    <p:extLst>
      <p:ext uri="{BB962C8B-B14F-4D97-AF65-F5344CB8AC3E}">
        <p14:creationId xmlns:p14="http://schemas.microsoft.com/office/powerpoint/2010/main" val="3904483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22BC-7216-7BC9-0638-DE9677B27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2379765"/>
            <a:ext cx="9603275" cy="1049235"/>
          </a:xfrm>
        </p:spPr>
        <p:txBody>
          <a:bodyPr/>
          <a:lstStyle/>
          <a:p>
            <a:pPr algn="ctr"/>
            <a:r>
              <a:rPr lang="en-US"/>
              <a:t>Thank You</a:t>
            </a:r>
            <a:br>
              <a:rPr lang="en-US"/>
            </a:br>
            <a:r>
              <a:rPr lang="en-US"/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73309252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653</Words>
  <Application>Microsoft Macintosh PowerPoint</Application>
  <PresentationFormat>Widescreen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Gill Sans MT</vt:lpstr>
      <vt:lpstr>Gallery</vt:lpstr>
      <vt:lpstr>Milestone 3</vt:lpstr>
      <vt:lpstr>Project Recap</vt:lpstr>
      <vt:lpstr>System Architecture</vt:lpstr>
      <vt:lpstr>Milestone 1(Recap)</vt:lpstr>
      <vt:lpstr>Milestone 2 (Recap)</vt:lpstr>
      <vt:lpstr>Milestone 3 Overview</vt:lpstr>
      <vt:lpstr>Solution Overview (BIG ONE)</vt:lpstr>
      <vt:lpstr>CI/CD Pipeline</vt:lpstr>
      <vt:lpstr>Lucid API Integration</vt:lpstr>
      <vt:lpstr>Lucid Visualization</vt:lpstr>
      <vt:lpstr>LUCID VISUALIZATION</vt:lpstr>
      <vt:lpstr>RESULT</vt:lpstr>
      <vt:lpstr>GitHub Repository</vt:lpstr>
      <vt:lpstr>End to End Pipeline</vt:lpstr>
      <vt:lpstr>Challenges:</vt:lpstr>
      <vt:lpstr>Thank You TEAM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Shahiba Shamshad</dc:creator>
  <cp:lastModifiedBy>Michael Butler</cp:lastModifiedBy>
  <cp:revision>1</cp:revision>
  <dcterms:created xsi:type="dcterms:W3CDTF">2026-04-14T22:46:15Z</dcterms:created>
  <dcterms:modified xsi:type="dcterms:W3CDTF">2026-04-25T03:28:00Z</dcterms:modified>
</cp:coreProperties>
</file>